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12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82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Jours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8A-9E40-8DEA-2FBC318F8446}"/>
              </c:ext>
            </c:extLst>
          </c:dPt>
          <c:dPt>
            <c:idx val="1"/>
            <c:invertIfNegative val="0"/>
            <c:bubble3D val="0"/>
            <c:spPr>
              <a:solidFill>
                <a:srgbClr val="00FF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8A-9E40-8DEA-2FBC318F84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Baissier (0)</c:v>
                </c:pt>
                <c:pt idx="1">
                  <c:v>Haussier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924</c:v>
                </c:pt>
                <c:pt idx="1">
                  <c:v>1065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8A-9E40-8DEA-2FBC318F84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Jours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F6-8F48-9D15-FB6FB4F42F3C}"/>
              </c:ext>
            </c:extLst>
          </c:dPt>
          <c:dPt>
            <c:idx val="1"/>
            <c:invertIfNegative val="0"/>
            <c:bubble3D val="0"/>
            <c:spPr>
              <a:solidFill>
                <a:srgbClr val="9D4E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F6-8F48-9D15-FB6FB4F42F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Train
(2008–2014)</c:v>
                </c:pt>
                <c:pt idx="1">
                  <c:v>Test
(2015–2016)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1611</c:v>
                </c:pt>
                <c:pt idx="1">
                  <c:v>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F6-8F48-9D15-FB6FB4F42F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892A4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8892A4"/>
                </a:solidFill>
                <a:latin typeface="Arial"/>
              </a:rPr>
              <a:t>Analyse de robustesse — </a:t>
            </a:r>
            <a:r>
              <a:rPr lang="el-GR" sz="1100" b="0" i="0" u="none" strike="noStrike">
                <a:solidFill>
                  <a:srgbClr val="8892A4"/>
                </a:solidFill>
                <a:latin typeface="Arial"/>
              </a:rPr>
              <a:t>Δ </a:t>
            </a:r>
            <a:r>
              <a:rPr lang="fr-FR" sz="1100" b="0" i="0" u="none" strike="noStrike">
                <a:solidFill>
                  <a:srgbClr val="8892A4"/>
                </a:solidFill>
                <a:latin typeface="Arial"/>
              </a:rPr>
              <a:t>Score vs Baseline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Accuracy (%)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Sans ponctuation</c:v>
                </c:pt>
                <c:pt idx="1">
                  <c:v>Retrait 20% mots</c:v>
                </c:pt>
                <c:pt idx="2">
                  <c:v>Troncature 50%</c:v>
                </c:pt>
                <c:pt idx="3">
                  <c:v>Troncature 30%</c:v>
                </c:pt>
                <c:pt idx="4">
                  <c:v>Retrait mots
financiers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1.1000000000000001</c:v>
                </c:pt>
                <c:pt idx="2">
                  <c:v>1.1000000000000001</c:v>
                </c:pt>
                <c:pt idx="3">
                  <c:v>1.1000000000000001</c:v>
                </c:pt>
                <c:pt idx="4">
                  <c:v>-0.7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0A-EA4A-804A-27AF3C8252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 F1 (%)</c:v>
                </c:pt>
              </c:strCache>
            </c:strRef>
          </c:tx>
          <c:spPr>
            <a:solidFill>
              <a:srgbClr val="00FF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Sans ponctuation</c:v>
                </c:pt>
                <c:pt idx="1">
                  <c:v>Retrait 20% mots</c:v>
                </c:pt>
                <c:pt idx="2">
                  <c:v>Troncature 50%</c:v>
                </c:pt>
                <c:pt idx="3">
                  <c:v>Troncature 30%</c:v>
                </c:pt>
                <c:pt idx="4">
                  <c:v>Retrait mots
financiers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-0.2</c:v>
                </c:pt>
                <c:pt idx="2">
                  <c:v>-0.5</c:v>
                </c:pt>
                <c:pt idx="3">
                  <c:v>-1.8</c:v>
                </c:pt>
                <c:pt idx="4">
                  <c:v>-1.2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0A-EA4A-804A-27AF3C8252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DD5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DD5E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97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4" y="-91440"/>
            <a:ext cx="3840480" cy="3840480"/>
          </a:xfrm>
          <a:prstGeom prst="ellipse">
            <a:avLst/>
          </a:prstGeom>
          <a:solidFill>
            <a:srgbClr val="0A2040">
              <a:alpha val="7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95607" y="228600"/>
            <a:ext cx="2743200" cy="27432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256758" y="594360"/>
            <a:ext cx="1828800" cy="18288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50292" cy="4572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 FINANCE  ·  PROJET NLP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direction</a:t>
            </a:r>
            <a:endParaRPr lang="en-US" sz="4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Dow Jones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actualités Reddit  ·  2008–2016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91840"/>
            <a:ext cx="150876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75688" y="3291840"/>
            <a:ext cx="150876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075688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39896" y="3291840"/>
            <a:ext cx="150876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739896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04104" y="3291840"/>
            <a:ext cx="150876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04104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68312" y="3291840"/>
            <a:ext cx="150876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068312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CD344D98-1331-1604-AC21-82396B80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801" y="137160"/>
            <a:ext cx="11379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502920"/>
            <a:ext cx="50292" cy="43891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1323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actualités permet-il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prédire le marché 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2633472"/>
            <a:ext cx="59436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marchés réagissent aux nouvelles — c'est établi.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1638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headlines Reddit World News par jour, 2008–2016.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5387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direction du DJIA le lendemain (pas le même jour).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9136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stricte : on prédit J+1 depuis les news de J — aucun biais de contemporanéité.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4407408"/>
            <a:ext cx="83210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des marchés efficients :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l'information publique est déjà dans les prix, tout signal résiduel sera faible — et c'est exactement ce qu'on mesure.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C5E7310-6B2C-CFD6-EC16-1342761B4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376" y="898701"/>
            <a:ext cx="2497095" cy="1659029"/>
          </a:xfrm>
          <a:prstGeom prst="ellipse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730AD286-5467-CEEF-D45B-1141BA5DF96C}"/>
              </a:ext>
            </a:extLst>
          </p:cNvPr>
          <p:cNvSpPr txBox="1"/>
          <p:nvPr/>
        </p:nvSpPr>
        <p:spPr>
          <a:xfrm>
            <a:off x="5299141" y="1029243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6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D95B0DA-B626-781F-A8AA-B763FDB06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423" y="137160"/>
            <a:ext cx="913297" cy="587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60350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47472" y="749808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749808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: aaron7sun/stocknews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79576"/>
            <a:ext cx="60350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7472" y="1179576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179576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2008-08-08 → 2016-07-01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60350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609344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609344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1 989 jours de trading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39112"/>
            <a:ext cx="60350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7472" y="2039112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039112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par jour (Reddit World News)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60350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472" y="2468880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468880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1 065 jours haussiers (53,5 %)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98648"/>
            <a:ext cx="60350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2898648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2898648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924 jours baissiers (46,5 %)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28416"/>
            <a:ext cx="60350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47472" y="3328416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3328416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cellules sur colonnes Top — traités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58184"/>
            <a:ext cx="60350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3758184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3758184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dans news &amp; prix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60350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47472" y="4187952"/>
            <a:ext cx="141732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83080" y="4187952"/>
            <a:ext cx="457200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98,4 % label/direction marché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7498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labels</a:t>
            </a:r>
            <a:endParaRPr lang="en-US" sz="10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6400800" y="1005840"/>
          <a:ext cx="2514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30"/>
          <p:cNvSpPr/>
          <p:nvPr/>
        </p:nvSpPr>
        <p:spPr>
          <a:xfrm>
            <a:off x="644652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</a:t>
            </a:r>
            <a:endParaRPr lang="en-US" sz="100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6400800" y="2880360"/>
          <a:ext cx="25146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642C5E56-9956-180E-0060-DD8549460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953" y="137160"/>
            <a:ext cx="81076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51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2651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29968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headlines → 1 document journalier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2029968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450592" y="84124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41732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42032" y="1847088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Minuscules · suppression ponctuation · stopwords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777240"/>
            <a:ext cx="2029968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26864" y="84124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41732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18304" y="1847088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corpus construits en parallèle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03136" y="777240"/>
            <a:ext cx="2029968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03136" y="84124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03136" y="141732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94576" y="1847088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&lt; 2015  ·  Test ≥ 2015 (TimeSeriesSplit CV)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420624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1" name="Shape 19"/>
          <p:cNvSpPr/>
          <p:nvPr/>
        </p:nvSpPr>
        <p:spPr>
          <a:xfrm>
            <a:off x="274320" y="3071107"/>
            <a:ext cx="420624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11480" y="3127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 — Brut  (pour Word2Vec)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stemming ,  préserve la richesse sémantique pour l'apprentissage d'embeddings.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apprend les co-occurrences contextuelles sur le vocabulaire naturel.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420624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4206240" cy="5029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3127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B — Stemmé  (pour TF-IDF)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4747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Stemmer Porter : 'rising', 'rises', 'rose' → 'rise'. Agrège les variantes lexicales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poids TF-IDF plus fidèle à la fréquence réelle.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1CE70CC6-578F-02B8-84CC-4159B9D0C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297" y="137160"/>
            <a:ext cx="831423" cy="5344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188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286059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modèles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3383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0624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dim=100  ·  window=5  ·  min_count=2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workers=1 (déterministe)  ·  epochs=10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: 17 894 mots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Classifieurs testés 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393192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172968"/>
            <a:ext cx="393192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31729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(n=200)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206240" cy="3383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06240" cy="5029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0600" y="131673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max_features=20 000  ·  ngram=(1,2)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min_df=3  ·  sublinear_tf=True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: 20 000 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Classifieurs testés 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697480"/>
            <a:ext cx="3931920" cy="32918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26974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072384"/>
            <a:ext cx="3931920" cy="32918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92040" y="30723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447288"/>
            <a:ext cx="3931920" cy="32918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92040" y="344728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Linéaire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822192"/>
            <a:ext cx="3931920" cy="32918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92040" y="38221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(chi²-5k)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3251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pas DeBERTa/BERT ? Le temps d'inférence CPU était incompatible avec une vraie boucle </a:t>
            </a:r>
            <a:r>
              <a:rPr lang="en-US" sz="950" i="1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d'itération</a:t>
            </a: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 choix d'ingénierie raisonné, pas un renoncement.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A7D99539-D19C-99AE-F50D-BE2AA95C6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901" y="137160"/>
            <a:ext cx="786819" cy="5058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860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272343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d'évaluation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50,7 %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naïve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(classe majoritaire)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749808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11680" y="82296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(sans fuite future)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749808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749040" y="82296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J+1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 de biais contemporain)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749808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0" y="82296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suivies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modèle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0" y="749808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223760" y="82296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14630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de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testées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212848"/>
            <a:ext cx="45720" cy="59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24871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principale vs baseline naïve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2212848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154680" y="2212848"/>
            <a:ext cx="45720" cy="59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64408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64408" y="24871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le léger déséquilibre de classes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2212848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035040" y="2212848"/>
            <a:ext cx="45720" cy="5943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144768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44768" y="24871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la plus robuste pour la classification binaire équilibrée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880360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2880360"/>
            <a:ext cx="45720" cy="59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ranking · calibration probabiliste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54680" y="2880360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154680" y="2880360"/>
            <a:ext cx="45720" cy="59436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264408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64408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précision-rappel · utile pour légère imbalance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2880360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035040" y="2880360"/>
            <a:ext cx="45720" cy="59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144768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44768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— pénalise les biais extrêmes de rappel/précision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547872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274320" y="3547872"/>
            <a:ext cx="45720" cy="5943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84048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calibration des probabilités prédites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54680" y="3547872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3154680" y="3547872"/>
            <a:ext cx="45720" cy="5943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264408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64408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économique après frais de transaction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3547872"/>
            <a:ext cx="27432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035040" y="3547872"/>
            <a:ext cx="4572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144768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44768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risque — perte maximale en valeur cumulée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7C6CFB08-C4F6-36FF-628A-107942C7E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11" y="85702"/>
            <a:ext cx="913297" cy="587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288" y="4926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3756" y="23774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sur le test — tous modèles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5806440" y="795528"/>
            <a:ext cx="306324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897880" y="822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 : W2V + RF à 54,4 %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06440" y="1472184"/>
            <a:ext cx="306324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897880" y="149961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 : 54,1 % — très proche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06440" y="2148840"/>
            <a:ext cx="306324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897880" y="21762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 entre +2 et +4 pts au-dessus de la baseline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06440" y="2825496"/>
            <a:ext cx="306324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897880" y="28529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surapprentissage — scores CV ≈ scores test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06440" y="3502152"/>
            <a:ext cx="306324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897880" y="35295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MultinomialNB : prédit uniquement 'Haussier' → MCC = 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11480" y="4407408"/>
            <a:ext cx="83210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clé :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52–54 % d'accuracy est </a:t>
            </a:r>
            <a:r>
              <a:rPr lang="en-US" sz="1050" dirty="0" err="1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modeste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</a:t>
            </a:r>
            <a:r>
              <a:rPr lang="en-US" sz="1050" dirty="0" err="1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cohérent et reproductible. Il suggère un signal réel et étroit, précisément ce que l'HME prédit après intégration rapide.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562D3C40-D488-808A-1BB0-A9F535078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11" y="85702"/>
            <a:ext cx="913297" cy="5871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716FE89-B2A3-D01E-8598-9E82F4F98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1261340"/>
            <a:ext cx="5207726" cy="2561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256" y="502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05401" y="197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&amp; MCC — Performance validée en CV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8288" cy="269748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-45720" y="377647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3886200"/>
            <a:ext cx="5285232" cy="914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-45720" y="3153977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3263705"/>
            <a:ext cx="5285232" cy="914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-45720" y="2531481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" y="2641209"/>
            <a:ext cx="5285232" cy="914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-45720" y="1908986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" y="2018714"/>
            <a:ext cx="5285232" cy="914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-45720" y="1286490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" y="1396218"/>
            <a:ext cx="5285232" cy="914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56032" y="987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×100  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14416" y="377647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14416" y="310210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14416" y="242773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14416" y="175336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14416" y="107899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9875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MCC ×100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848708"/>
            <a:ext cx="5303520" cy="13716"/>
          </a:xfrm>
          <a:prstGeom prst="rect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7355" y="2246962"/>
            <a:ext cx="335890" cy="163923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81635" y="2045794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6280" y="2537460"/>
            <a:ext cx="335890" cy="134874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70560" y="2336292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81635" y="3931920"/>
            <a:ext cx="816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W2V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211275" y="2143213"/>
            <a:ext cx="335890" cy="1742987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165555" y="1942045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00200" y="1885569"/>
            <a:ext cx="335890" cy="2000631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554480" y="1684401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65555" y="3931920"/>
            <a:ext cx="816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W2V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95195" y="2143213"/>
            <a:ext cx="335890" cy="1742987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049475" y="1942045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84120" y="2784729"/>
            <a:ext cx="335890" cy="1101471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438400" y="2583561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049475" y="3931920"/>
            <a:ext cx="816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79115" y="3014706"/>
            <a:ext cx="335890" cy="87149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933395" y="2813538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68040" y="3886200"/>
            <a:ext cx="335890" cy="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322320" y="3685032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933395" y="3931920"/>
            <a:ext cx="816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863035" y="2205462"/>
            <a:ext cx="335890" cy="168073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817315" y="2004294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51960" y="2065401"/>
            <a:ext cx="335890" cy="1820799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206240" y="1864233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817315" y="3931920"/>
            <a:ext cx="816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46955" y="2475210"/>
            <a:ext cx="335890" cy="141099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701235" y="2274042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35880" y="3166872"/>
            <a:ext cx="335890" cy="71932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090160" y="2965704"/>
            <a:ext cx="4273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01235" y="3931920"/>
            <a:ext cx="816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82296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566928" y="78638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(×100)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194560" y="822960"/>
            <a:ext cx="164592" cy="16459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395728" y="7863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(×100)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" y="56692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&amp; MCC par modèle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59956" y="749808"/>
            <a:ext cx="2509723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6359956" y="740664"/>
            <a:ext cx="2509724" cy="5943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6106057" y="922489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0,534</a:t>
            </a:r>
            <a:endParaRPr lang="en-US" sz="4200" dirty="0"/>
          </a:p>
        </p:txBody>
      </p:sp>
      <p:sp>
        <p:nvSpPr>
          <p:cNvPr id="61" name="Text 59"/>
          <p:cNvSpPr/>
          <p:nvPr/>
        </p:nvSpPr>
        <p:spPr>
          <a:xfrm>
            <a:off x="6151777" y="1644865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ROC-AUC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(W2V + RF)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59956" y="2286000"/>
            <a:ext cx="2509724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6359956" y="2290572"/>
            <a:ext cx="2509724" cy="45719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6499654" y="2450592"/>
            <a:ext cx="23700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0,089</a:t>
            </a:r>
            <a:endParaRPr lang="en-US" sz="4200" dirty="0"/>
          </a:p>
        </p:txBody>
      </p:sp>
      <p:sp>
        <p:nvSpPr>
          <p:cNvPr id="65" name="Text 63"/>
          <p:cNvSpPr/>
          <p:nvPr/>
        </p:nvSpPr>
        <p:spPr>
          <a:xfrm>
            <a:off x="6499654" y="3163824"/>
            <a:ext cx="23700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MCC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(W2V + RF)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59954" y="3794760"/>
            <a:ext cx="250972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6359954" y="3794760"/>
            <a:ext cx="25097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0,00 pour Naive Bayes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prédit uniquement 'Haussier'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411480" y="4407408"/>
            <a:ext cx="83210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MCC ici :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dataset quasi-équilibré, l'accuracy est trompeuse. Le MCC tient compte simultanément des VP, VN, FP et FN , </a:t>
            </a:r>
            <a:r>
              <a:rPr lang="en-US" sz="1050" dirty="0" err="1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métrique de référence. Un MCC de 0,04–0,09 confirme un avantage prédictif réel, même si petit.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pic>
        <p:nvPicPr>
          <p:cNvPr id="71" name="Image 70">
            <a:extLst>
              <a:ext uri="{FF2B5EF4-FFF2-40B4-BE49-F238E27FC236}">
                <a16:creationId xmlns:a16="http://schemas.microsoft.com/office/drawing/2014/main" id="{EE077A3E-AF1D-D840-CE2E-899BD863F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11" y="85702"/>
            <a:ext cx="913297" cy="587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82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vs TF-IDF — Une parité surprenante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7830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1408" y="777240"/>
            <a:ext cx="15544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121408" y="777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W2V + LogReg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39896" y="777240"/>
            <a:ext cx="15544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39896" y="777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W2V + RF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58384" y="777240"/>
            <a:ext cx="169164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358384" y="777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LogReg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14032" y="777240"/>
            <a:ext cx="15544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114032" y="777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188720"/>
            <a:ext cx="17830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1188720"/>
            <a:ext cx="17830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21408" y="1188720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121408" y="1188720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39896" y="1188720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739896" y="1188720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58384" y="1188720"/>
            <a:ext cx="16916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58384" y="1188720"/>
            <a:ext cx="169164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14032" y="1188720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114032" y="1188720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1609344"/>
            <a:ext cx="17830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" y="1609344"/>
            <a:ext cx="17830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21408" y="1609344"/>
            <a:ext cx="15544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121408" y="1609344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39896" y="1609344"/>
            <a:ext cx="15544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739896" y="1609344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58384" y="1609344"/>
            <a:ext cx="16916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358384" y="1609344"/>
            <a:ext cx="169164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14032" y="1609344"/>
            <a:ext cx="15544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114032" y="1609344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2029968"/>
            <a:ext cx="17830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74320" y="2029968"/>
            <a:ext cx="17830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121408" y="2029968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121408" y="2029968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0,529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739896" y="2029968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739896" y="2029968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0,534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358384" y="2029968"/>
            <a:ext cx="16916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358384" y="2029968"/>
            <a:ext cx="169164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114032" y="2029968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114032" y="2029968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0,531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74320" y="2450592"/>
            <a:ext cx="17830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274320" y="2450592"/>
            <a:ext cx="17830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121408" y="2450592"/>
            <a:ext cx="15544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121408" y="2450592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0,060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739896" y="2450592"/>
            <a:ext cx="15544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739896" y="2450592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0,089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358384" y="2450592"/>
            <a:ext cx="16916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358384" y="2450592"/>
            <a:ext cx="169164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0,049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114032" y="2450592"/>
            <a:ext cx="15544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7114032" y="2450592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0,081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74320" y="2871216"/>
            <a:ext cx="17830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274320" y="2871216"/>
            <a:ext cx="17830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121408" y="2871216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121408" y="28712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0,602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739896" y="2871216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3739896" y="28712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0,620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358384" y="2871216"/>
            <a:ext cx="16916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5358384" y="2871216"/>
            <a:ext cx="169164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0,594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114032" y="2871216"/>
            <a:ext cx="15544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7114032" y="28712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0,583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74320" y="3337560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384048" y="33832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Richesse sémantique ≠ meilleures prédictions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84048" y="373075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embeddings denses W2V n'apportent pas d'avantage clair sur les documents courts et bruités.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172968" y="3337560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3282696" y="33832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co-occurrences locales dominent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282696" y="373075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bigrammes TF-IDF capturent le signal financier aussi efficacement que les vecteurs denses.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071616" y="3337560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6181344" y="33832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représentations généralisent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181344" y="373075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≈ scores test pour toutes les variantes — pas de surapprentissage malgré l'espace de features élevé.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pic>
        <p:nvPicPr>
          <p:cNvPr id="74" name="Image 73">
            <a:extLst>
              <a:ext uri="{FF2B5EF4-FFF2-40B4-BE49-F238E27FC236}">
                <a16:creationId xmlns:a16="http://schemas.microsoft.com/office/drawing/2014/main" id="{F39BE399-4287-2EED-0784-59025A2B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11" y="85702"/>
            <a:ext cx="913297" cy="587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48453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du signal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795528"/>
            <a:ext cx="306324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897880" y="8229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ponctuation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9788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: 0 pt  ·  Accord : 100 %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06440" y="1463040"/>
            <a:ext cx="306324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897880" y="1490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20 % des mots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74650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: ~−1 pt  ·  Accord : 85,7 %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06440" y="2130552"/>
            <a:ext cx="306324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897880" y="21579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Troncature 50 % tokens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41401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: ~−1 pt  ·  Accord : 77,7 %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06440" y="2798064"/>
            <a:ext cx="306324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97880" y="282549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Troncature 30 % tokens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08152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: ~−1,8 pt  ·  Accord : 69,2 %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06440" y="3465576"/>
            <a:ext cx="306324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897880" y="34930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mots financiers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374904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: ~−1 à −2 pts  ·  Accord : 97,9 %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11480" y="4407408"/>
            <a:ext cx="83210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clé :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mots financiers (market, stock, earnings…) provoque la chute la plus </a:t>
            </a:r>
            <a:r>
              <a:rPr lang="en-US" sz="1050" dirty="0" err="1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marquée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 le signal est concentré dans le vocabulaire sectoriel, pas dans le sentiment généraliste.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71BCF8F7-54AB-C24E-1208-9F96D6F9E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711" y="85702"/>
            <a:ext cx="913297" cy="587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signal statistique à la réalité économique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394960" y="795528"/>
            <a:ext cx="15087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394960" y="7955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922008" y="795528"/>
            <a:ext cx="100584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922008" y="7955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946136" y="795528"/>
            <a:ext cx="100584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946136" y="7955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1170432"/>
            <a:ext cx="150876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394960" y="1170432"/>
            <a:ext cx="150876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total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22008" y="1170432"/>
            <a:ext cx="10058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922008" y="1170432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+0,65 %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46136" y="1170432"/>
            <a:ext cx="10058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946136" y="1170432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−5,15 %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394960" y="1600200"/>
            <a:ext cx="150876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18" name="Text 15"/>
          <p:cNvSpPr/>
          <p:nvPr/>
        </p:nvSpPr>
        <p:spPr>
          <a:xfrm>
            <a:off x="5394960" y="1600200"/>
            <a:ext cx="150876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(ann.)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22008" y="1600200"/>
            <a:ext cx="10058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922008" y="1600200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0,11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46136" y="1600200"/>
            <a:ext cx="10058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7946136" y="1600200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−0,19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394960" y="2029968"/>
            <a:ext cx="150876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394960" y="2029968"/>
            <a:ext cx="150876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22008" y="2029968"/>
            <a:ext cx="10058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6922008" y="2029968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−14,5 %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946136" y="2029968"/>
            <a:ext cx="10058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7946136" y="2029968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−16,5 %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394960" y="2459736"/>
            <a:ext cx="150876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5394960" y="2459736"/>
            <a:ext cx="150876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investis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922008" y="2459736"/>
            <a:ext cx="10058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6922008" y="2459736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946136" y="2459736"/>
            <a:ext cx="100584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7946136" y="2459736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~70 %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394960" y="2889504"/>
            <a:ext cx="150876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5394960" y="2889504"/>
            <a:ext cx="150876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Turnover/jour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922008" y="2889504"/>
            <a:ext cx="10058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6922008" y="2889504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946136" y="2889504"/>
            <a:ext cx="100584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7946136" y="2889504"/>
            <a:ext cx="1005840" cy="3931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43,8 %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394960" y="3337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bps de frais par changement de position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92024" y="3666744"/>
            <a:ext cx="8595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274319" y="3684161"/>
            <a:ext cx="83210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 </a:t>
            </a:r>
            <a:r>
              <a:rPr lang="en-US" sz="10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avantage à 53 % ne suffit pas à battre les frictions du marché. Les coûts de transaction effacent le signal — un résultat théoriquement attendu, empiriquement démontré.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1F45EFDC-8B64-D61C-A85A-2A6BCAF5A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11" y="85702"/>
            <a:ext cx="913297" cy="5871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ECEA251-7FC1-83DD-75AA-F74F1622F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4" y="1004098"/>
            <a:ext cx="5018435" cy="205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217920" y="-182880"/>
            <a:ext cx="3474720" cy="3474720"/>
          </a:xfrm>
          <a:prstGeom prst="ellipse">
            <a:avLst/>
          </a:prstGeom>
          <a:solidFill>
            <a:srgbClr val="0A2040">
              <a:alpha val="80000"/>
            </a:srgbClr>
          </a:solidFill>
          <a:ln w="12700">
            <a:solidFill>
              <a:srgbClr val="00E5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honnête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question.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59436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les headlines contiennent un signal faible mais réel. Nos modèles battent la baseline de façon constante (52–54 % d'accuracy).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 est reproductible, non-aléatoire, concentré dans le vocabulaire financier — il résiste aux tests de robustesse.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</a:t>
            </a:r>
            <a:r>
              <a:rPr lang="en-US" sz="1250" dirty="0" err="1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2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n'est pas exploitable économiquement. Les frictions éliminent l'avantage. La stratégie sous-performe le buy &amp; hold.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7490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entre avantage statistique et alpha économique est immense. C'est la leçon centrale du projet — et de l'HME.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4361688"/>
            <a:ext cx="85953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4389120"/>
            <a:ext cx="83210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marché ne dort pas. Il s'adapte. C'est précisément ce qui le rend si fascinant à </a:t>
            </a:r>
            <a:r>
              <a:rPr lang="en-US" sz="1050" i="1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</a:t>
            </a:r>
            <a:r>
              <a:rPr lang="en-US" sz="10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et si difficile à battre. »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4D54F34-8477-6062-C089-E18A7FDF6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11" y="85702"/>
            <a:ext cx="913297" cy="587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1256</Words>
  <Application>Microsoft Office PowerPoint</Application>
  <PresentationFormat>On-screen Show (16:9)</PresentationFormat>
  <Paragraphs>279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Prédire la direction du DJIA — NLP &amp; ML en Finance</dc:title>
  <dc:subject>PptxGenJS Presentation</dc:subject>
  <dc:creator>PptxGenJS</dc:creator>
  <cp:lastModifiedBy>Arooba Mushtaq</cp:lastModifiedBy>
  <cp:revision>4</cp:revision>
  <dcterms:created xsi:type="dcterms:W3CDTF">2026-04-20T19:36:55Z</dcterms:created>
  <dcterms:modified xsi:type="dcterms:W3CDTF">2026-04-20T20:12:43Z</dcterms:modified>
</cp:coreProperties>
</file>